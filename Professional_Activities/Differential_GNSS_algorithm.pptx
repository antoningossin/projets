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0" autoAdjust="0"/>
    <p:restoredTop sz="96247" autoAdjust="0"/>
  </p:normalViewPr>
  <p:slideViewPr>
    <p:cSldViewPr snapToGrid="0" snapToObjects="1">
      <p:cViewPr varScale="1">
        <p:scale>
          <a:sx n="98" d="100"/>
          <a:sy n="98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962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[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algorithm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architecture, [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imAgined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 plan,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PRISMA,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TanDEM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-X.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cAïted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absolute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timeliness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hardware; 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relative navigation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benefits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common-error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cancellation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cm in real time and mm offline; 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 of magnitude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goals 100x formation size and navigation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TanDEM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-X pas autonome, peu de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maneouvre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principalement validation sol, fait pour SAR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interferométric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surtout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K-band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instrument of GRACE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thread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differential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algorithm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one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SORT :</a:t>
            </a:r>
          </a:p>
          <a:p>
            <a:pPr marL="171450" indent="-171450">
              <a:buFontTx/>
              <a:buChar char="-"/>
            </a:pP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pPr marL="171450" indent="-171450">
              <a:buFontTx/>
              <a:buChar char="-"/>
            </a:pP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coral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</a:p>
          <a:p>
            <a:pPr marL="171450" indent="-171450">
              <a:buFontTx/>
              <a:buChar char="-"/>
            </a:pP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ionosphere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flips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code and phase,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hence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GRAPHIC -&gt; group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decrease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ionosphere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phase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velocity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frequency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carrier signal)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ionosphere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receives GNSS</a:t>
            </a:r>
          </a:p>
          <a:p>
            <a:r>
              <a:rPr lang="en-US" dirty="0"/>
              <a:t>Jerry transmits through inter-satellite link</a:t>
            </a:r>
          </a:p>
          <a:p>
            <a:r>
              <a:rPr lang="en-US" dirty="0"/>
              <a:t>Tom identify the GPS satellites commonly tracked and from single and double difference</a:t>
            </a:r>
          </a:p>
          <a:p>
            <a:endParaRPr lang="en-US" dirty="0"/>
          </a:p>
          <a:p>
            <a:r>
              <a:rPr lang="en-US" dirty="0"/>
              <a:t>These are processed inside a common Kalman filter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Estimate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absolute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states of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satellites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simultaneously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visibility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mandatory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Least-squares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Ambiguity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Decorrelation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Adjustment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(covariance)</a:t>
            </a:r>
          </a:p>
          <a:p>
            <a:pPr lvl="0" fontAlgn="t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Wide Lane-Narrow Lane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pseudorange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double_frequency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receivers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Flight plan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GRAPHIC or the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kalman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let alive;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Empirical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acceleration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perturbations not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captured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the force model.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-&gt;as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slowly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varying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states :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remains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modelling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imperfect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Correction : sensitive to noise &amp; start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drifting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SRP =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solar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radiation pressure =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Geopotential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gravité terrestre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millimetric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single carrier cycle.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cycles the signal has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travelled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unknown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phase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ambiguity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converge first;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double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LAMBDA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validation, 1 cm vs 5 cm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heavy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manoeuvres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phenomena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gain pattern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directions)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Carrier phase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assumes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signal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received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point (phase center)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pratice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changes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direction of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incoming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signal -&gt;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calibration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PCV = phase center variation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Choke-ring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antenna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concentric metal rings, delayed copies, enable corrections. It is an antenna designed for high-precision GNSS.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manoeuvres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multipath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data gaps, radiation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 protection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we are in the signal cycle but not how many cycles were missed during the interruption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 = 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radiation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SEU = 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upset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(bit flip)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 = 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latch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-up (short circuit)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EDAC =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Correction (code)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below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 cm in real time, mm offline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47780CB-D611-F2AC-31F1-BD5CE68B972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42840"/>
            <a:ext cx="110331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900">
                <a:solidFill>
                  <a:srgbClr val="CF022B">
                    <a:alpha val="5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C2 – Usage restreint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12801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GNSS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RPO mission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implementation of an onboard CDGPS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O. Montenbruck and S. D’Amico, “GPS Based Relative Navigation”, chap. 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675120" y="822960"/>
            <a:ext cx="2011680" cy="2011680"/>
          </a:xfrm>
          <a:prstGeom prst="ellipse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7086600" y="1874520"/>
            <a:ext cx="256032" cy="256032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8001000" y="1371600"/>
            <a:ext cx="256032" cy="256032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 flipV="1">
            <a:off x="7342632" y="1499616"/>
            <a:ext cx="658368" cy="502920"/>
          </a:xfrm>
          <a:prstGeom prst="line">
            <a:avLst/>
          </a:prstGeom>
          <a:noFill/>
          <a:ln w="12700">
            <a:solidFill>
              <a:srgbClr val="2C2C2A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81228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4114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need: mm/cm-level relative positioning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92440" y="475488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220456" y="539496"/>
            <a:ext cx="292608" cy="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513064" y="420624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548640" y="1600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 cm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accuracy, single satellite, depending on timeliness and hardware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600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 cm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onboard relative navigation, PRISMA (3D rms, most scenarios)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1645920"/>
            <a:ext cx="0" cy="1280160"/>
          </a:xfrm>
          <a:prstGeom prst="line">
            <a:avLst/>
          </a:prstGeom>
          <a:noFill/>
          <a:ln w="9525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6035040" y="1600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mm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Post-processed GRACE baseline vs K-band ranging; 1 mm spec on TanDEM-X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1645920"/>
            <a:ext cx="0" cy="1280160"/>
          </a:xfrm>
          <a:prstGeom prst="line">
            <a:avLst/>
          </a:prstGeom>
          <a:noFill/>
          <a:ln w="9525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5120640" cy="1188720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686124" y="3330297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Principle. </a:t>
            </a: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Differencing the phase of the same GNSS signal received by Tango and Mango removes common errors (satellite clock, ephemerides, and ionosphere on short baselines) and leaves the relative geometry.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rule (chap. 5)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611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10× finer than the formation size; navigation 10× finer than control.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4114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MODEL</a:t>
            </a:r>
            <a:r>
              <a:rPr lang="en-US" sz="13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eq. 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equation, one strategy per term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92440" y="475488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220456" y="539496"/>
            <a:ext cx="292608" cy="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513064" y="420624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mage 0" descr="/home/claude/tex/eq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1444752"/>
            <a:ext cx="7620610" cy="4814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2103120"/>
            <a:ext cx="804672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tex/t_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197989"/>
            <a:ext cx="158420" cy="1851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8308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Ionosphere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21945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by the Tango − Mango difference (&lt; 1 km); otherwise GRAPHIC / Lear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459736"/>
            <a:ext cx="804672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2" descr="/home/claude/tex/t_gcl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540203"/>
            <a:ext cx="596646" cy="21397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25511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satellite clock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611880" y="255117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by the receiver–receiver difference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2816352"/>
            <a:ext cx="804672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mage 3" descr="/home/claude/tex/t_cl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910192"/>
            <a:ext cx="314782" cy="18722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78308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clock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3611880" y="29077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by double difference (≥ 2 common satellites)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3172968"/>
            <a:ext cx="804672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3" name="Image 4" descr="/home/claude/tex/t_ps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266808"/>
            <a:ext cx="302438" cy="18722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83080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wind-up / antenna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3611880" y="32644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if antennas share the same attitude; otherwise model + calibration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48640" y="3529584"/>
            <a:ext cx="804672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7" name="Image 5" descr="/home/claude/tex/t_ge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3596678"/>
            <a:ext cx="816788" cy="24071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783080" y="36210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3611880" y="362102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Estimated: Kalman filter + orbital dynamics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548640" y="3886200"/>
            <a:ext cx="804672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6" descr="/home/claude/tex/t_am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3980040"/>
            <a:ext cx="296266" cy="187223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783080" y="3977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ambiguity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3611880" y="39776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Estimated: LAMBDA / wide-lane, after r has converged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548640" y="4242816"/>
            <a:ext cx="804672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5" name="Image 7" descr="/home/claude/tex/t_e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4359288"/>
            <a:ext cx="148133" cy="141961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783080" y="43342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Noise, multipath, events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3611880" y="433425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KPIs, robustness (slide 9)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548640" y="4736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by differencing     </a:t>
            </a:r>
            <a:r>
              <a:rPr lang="en-US" sz="10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estimated or modelled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4114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Kalman filter for both satellites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92440" y="475488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220456" y="539496"/>
            <a:ext cx="292608" cy="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513064" y="420624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1481328" cy="146304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68580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10312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468880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code + phase, Tom and Jerry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39112" y="2377440"/>
            <a:ext cx="137160" cy="0"/>
          </a:xfrm>
          <a:prstGeom prst="line">
            <a:avLst/>
          </a:prstGeom>
          <a:noFill/>
          <a:ln w="12700">
            <a:solidFill>
              <a:srgbClr val="D85A30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185416" y="1645920"/>
            <a:ext cx="1481328" cy="146304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2322576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322576" y="210312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322576" y="2468880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Visibility, cycle slips, synchronisation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75888" y="2377440"/>
            <a:ext cx="137160" cy="0"/>
          </a:xfrm>
          <a:prstGeom prst="line">
            <a:avLst/>
          </a:prstGeom>
          <a:noFill/>
          <a:ln w="12700">
            <a:solidFill>
              <a:srgbClr val="D85A30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822192" y="1645920"/>
            <a:ext cx="1481328" cy="146304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3959352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959352" y="210312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959352" y="2468880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then double difference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12664" y="2377440"/>
            <a:ext cx="137160" cy="0"/>
          </a:xfrm>
          <a:prstGeom prst="line">
            <a:avLst/>
          </a:prstGeom>
          <a:noFill/>
          <a:ln w="12700">
            <a:solidFill>
              <a:srgbClr val="D85A30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458968" y="1645920"/>
            <a:ext cx="1481328" cy="1463040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5596128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596128" y="210312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 + dynamics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596128" y="2468880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velocity, empirical accel.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49440" y="2377440"/>
            <a:ext cx="137160" cy="0"/>
          </a:xfrm>
          <a:prstGeom prst="line">
            <a:avLst/>
          </a:prstGeom>
          <a:noFill/>
          <a:ln w="12700">
            <a:solidFill>
              <a:srgbClr val="D85A30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7095744" y="1645920"/>
            <a:ext cx="1481328" cy="1463040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7232904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232904" y="210312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Ambiguities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232904" y="2468880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→ integer (LAMBDA / WL-NL)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approach, as on PRISMA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3383280" y="3429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filter on the absolute states of both satellites. GRAPHIC and single-difference phases are processed together, so no explicit relative state is needed, common visibility is not a strict prerequisite, and each satellite’s dynamics are propagated separately. Update every 30 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4114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CLOCK</a:t>
            </a:r>
            <a:r>
              <a:rPr lang="en-US" sz="13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c·δt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Co-visibility: what each step needs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92440" y="475488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220456" y="539496"/>
            <a:ext cx="292608" cy="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513064" y="420624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548640" y="16002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1709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satellite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form a single-difference phase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7889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2898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satellites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form a double difference: c·δt cancels, integers can be fixed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77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that: undifferenced GRAPHIC keeps both absolute states, and so the relative state, alive.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0560" y="1572768"/>
            <a:ext cx="411480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448056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166420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 tracked by Tango and Mango at each epoch, and their intersection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80560" y="2304288"/>
            <a:ext cx="411480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448056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Lookup table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239572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GPS and Galileo constellation, health from NANU / NAGU notices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80560" y="3035808"/>
            <a:ext cx="411480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448056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715000" y="312724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2 common satellites: flag, suspend fixing, keep float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80560" y="3767328"/>
            <a:ext cx="411480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4480560" y="3840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715000" y="38587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against a trajectory visualisation tool on pass scenarios</a:t>
            </a:r>
            <a:endParaRPr lang="en-US" sz="1150" dirty="0"/>
          </a:p>
        </p:txBody>
      </p:sp>
      <p:pic>
        <p:nvPicPr>
          <p:cNvPr id="28" name="Image 0" descr="/home/claude/tex/strip_c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90872"/>
            <a:ext cx="3386938" cy="2139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4114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r>
              <a:rPr lang="en-US" sz="13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|r − r_GPS|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Kalman, dynamics, real measurements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92440" y="475488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220456" y="539496"/>
            <a:ext cx="292608" cy="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513064" y="420624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flight plan enough? No. The model predicts, the measurements correct.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3931920" cy="210312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73152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Prediction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5603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integration of each orbit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Geopotential, drag, Sun/Moon, SRP, empirical accelerations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Thrusts known from the flight plan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3931920" cy="2103120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484632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93C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Correction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5603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= measured − modelled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Pseudorange, noise ~0.5 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Phase, noise ~1 mm, ambiguous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245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 tuning on PRISMA: measurement σ × ~10 during frequent thrusting; manoeuvre states estimated online.</a:t>
            </a:r>
            <a:endParaRPr lang="en-US" sz="1100" dirty="0"/>
          </a:p>
        </p:txBody>
      </p:sp>
      <p:pic>
        <p:nvPicPr>
          <p:cNvPr id="17" name="Image 0" descr="/home/claude/tex/strip_g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90872"/>
            <a:ext cx="3386938" cy="2139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4114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AMBIGUITY</a:t>
            </a:r>
            <a:r>
              <a:rPr lang="en-US" sz="13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λ·A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 and safeguards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92440" y="475488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220456" y="539496"/>
            <a:ext cx="292608" cy="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513064" y="420624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548640" y="166420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600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16276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converged on r before any attempt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276856"/>
            <a:ext cx="384048" cy="384048"/>
          </a:xfrm>
          <a:prstGeom prst="ellipse">
            <a:avLst/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548640" y="232257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2585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Float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Ambiguities estimated as real numbers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35224"/>
            <a:ext cx="384048" cy="384048"/>
          </a:xfrm>
          <a:prstGeom prst="ellipse">
            <a:avLst/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548640" y="298094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29169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29443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with validation, or WL/NL rounding (eq. 5.9)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593592"/>
            <a:ext cx="384048" cy="384048"/>
          </a:xfrm>
          <a:prstGeom prst="ellipse">
            <a:avLst/>
          </a:prstGeom>
          <a:solidFill>
            <a:srgbClr val="D85A30"/>
          </a:solidFill>
          <a:ln w="9525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548640" y="36393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5753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2194560" y="360273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slip: reset only the ambiguities concerned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12080" y="1600200"/>
            <a:ext cx="1600200" cy="2103120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995160" y="1600200"/>
            <a:ext cx="1600200" cy="210312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5349240" y="1783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cm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534924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Integers fixed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349240" y="2834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ground baseline, clamped config. (3D rms)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1783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cm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only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2834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test, float ambiguities (3D rms)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212080" y="3886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manoeuvres: processing reverts to float only. Only the double difference is integer, for a properly designed receiver.</a:t>
            </a:r>
            <a:endParaRPr lang="en-US" sz="1100" dirty="0"/>
          </a:p>
        </p:txBody>
      </p:sp>
      <p:pic>
        <p:nvPicPr>
          <p:cNvPr id="34" name="Image 0" descr="/home/claude/tex/strip_a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90872"/>
            <a:ext cx="3386938" cy="2139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4114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</a:t>
            </a:r>
            <a:r>
              <a:rPr lang="en-US" sz="13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λ·Ψ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Radiation pattern and phase centre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92440" y="475488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220456" y="539496"/>
            <a:ext cx="292608" cy="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513064" y="420624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2103120" cy="2103120"/>
          </a:xfrm>
          <a:prstGeom prst="ellipse">
            <a:avLst/>
          </a:prstGeom>
          <a:solidFill>
            <a:srgbClr val="F1EFE8"/>
          </a:solidFill>
          <a:ln w="9525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005840" y="2194560"/>
            <a:ext cx="1463040" cy="1463040"/>
          </a:xfrm>
          <a:prstGeom prst="ellipse">
            <a:avLst/>
          </a:prstGeom>
          <a:solidFill>
            <a:srgbClr val="FAECE7"/>
          </a:solidFill>
          <a:ln w="9525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325880" y="2514600"/>
            <a:ext cx="822960" cy="8229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85800" y="2926080"/>
            <a:ext cx="210312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737360" y="1874520"/>
            <a:ext cx="0" cy="210312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148840" y="2359152"/>
            <a:ext cx="146304" cy="146304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54864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azimuth × elevation grid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 pattern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1938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vs direction → C/N0, tracking quality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centre variations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1938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 phase-centre offset vs direction → phase error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2560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characterisation campaign, no conversion formula between the two.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2971800"/>
            <a:ext cx="521208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338328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approach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3429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Gather: </a:t>
            </a: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spec and measured gain / phase pattern from the integration team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Tabulate: </a:t>
            </a: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correction on an az/el grid, interpolated with NumPy / SciPy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Calibrate: </a:t>
            </a: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ground and in flight: PCV up to 10 mm even with a choke ring</a:t>
            </a:r>
            <a:endParaRPr lang="en-US" sz="1200" dirty="0"/>
          </a:p>
        </p:txBody>
      </p:sp>
      <p:pic>
        <p:nvPicPr>
          <p:cNvPr id="24" name="Image 0" descr="/home/claude/tex/strip_p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90872"/>
            <a:ext cx="3386938" cy="2139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4114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AND EVENTS</a:t>
            </a:r>
            <a:r>
              <a:rPr lang="en-US" sz="1300" i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ε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the algorithm holds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92440" y="475488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220456" y="539496"/>
            <a:ext cx="292608" cy="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513064" y="420624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54864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threats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8745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Manoeuvre execution, attitude errors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Multipath, phase pattern distortions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gaps, tumbling, safe mode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Jamming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threats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3075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SEU, SEL → EDAC, latch-up protection; receivers off to limit SEE → robust filter settings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KPIs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1819656"/>
            <a:ext cx="246888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3474720" y="1874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position and velocity RMS (3D)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74720" y="2276856"/>
            <a:ext cx="246888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3474720" y="2331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phase residuals, target ~mm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74720" y="2734056"/>
            <a:ext cx="246888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3474720" y="2788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rate, cycle-slip count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74720" y="3191256"/>
            <a:ext cx="246888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3474720" y="32461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satellites, convergence time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74720" y="3648456"/>
            <a:ext cx="246888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3474720" y="3703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C/N0 on Tom and Jerry (jamming)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2331720" cy="2834640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644652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proposal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Doppler consistency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246888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rate must match the predicted relative velocity. A phase jump without a velocity jump is a cycle slip, not real motion.</a:t>
            </a:r>
            <a:endParaRPr lang="en-US" sz="1200" dirty="0"/>
          </a:p>
        </p:txBody>
      </p:sp>
      <p:pic>
        <p:nvPicPr>
          <p:cNvPr id="28" name="Image 0" descr="/home/claude/tex/strip_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90872"/>
            <a:ext cx="3386938" cy="2139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09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 ONE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concrete actions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F09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618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set and scenarios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1627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and validation cases defined first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F09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1854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environment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IDE, InfluxDB + Grafana, GNU Radio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F09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7523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database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761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GPS / Galileo data, automatic plots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F09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3192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state of the art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33284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signals and frequencies available today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F09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TLE retrieval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38953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for long-lived satellites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1920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 cm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time, onboard (3D rms)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mm in post-processing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3657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F09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in flight by PRISMA and TanDEM-X, within reach for Tango &amp; Mango.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92440" y="475488"/>
            <a:ext cx="128016" cy="128016"/>
          </a:xfrm>
          <a:prstGeom prst="ellipse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8220456" y="539496"/>
            <a:ext cx="292608" cy="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8513064" y="420624"/>
            <a:ext cx="128016" cy="128016"/>
          </a:xfrm>
          <a:prstGeom prst="ellipse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786384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bd1f144-26ac-4410-8fdb-05c7de218e82}" enabled="1" method="Standard" siteId="{8b87af7d-8647-4dc7-8df4-5f69a2011bb5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1467</Words>
  <Application>Microsoft Office PowerPoint</Application>
  <PresentationFormat>Affichage à l'écran (16:9)</PresentationFormat>
  <Paragraphs>281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Cambria</vt:lpstr>
      <vt:lpstr>Tahoma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Differential GNSS for Tom &amp; Jerry</dc:title>
  <dc:subject>PptxGenJS Presentation</dc:subject>
  <dc:creator>PptxGenJS</dc:creator>
  <cp:lastModifiedBy>GOSSIN Antonin</cp:lastModifiedBy>
  <cp:revision>12</cp:revision>
  <dcterms:created xsi:type="dcterms:W3CDTF">2026-09-21T21:03:40Z</dcterms:created>
  <dcterms:modified xsi:type="dcterms:W3CDTF">2026-09-23T12:05:18Z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C2 – Usage restreint </vt:lpwstr>
  </property>
</Properties>
</file>